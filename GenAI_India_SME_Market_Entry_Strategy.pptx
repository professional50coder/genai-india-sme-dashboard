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</c:v>
                </c:pt>
              </c:strCache>
            </c:strRef>
          </c:tx>
          <c:spPr>
            <a:solidFill>
              <a:srgbClr val="1A6B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2025E</c:v>
                  </c:pt>
                  <c:pt idx="4">
                    <c:v>2026E</c:v>
                  </c:pt>
                  <c:pt idx="5">
                    <c:v>2028E</c:v>
                  </c:pt>
                  <c:pt idx="6">
                    <c:v>2030E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2.8</c:v>
                </c:pt>
                <c:pt idx="1">
                  <c:v>3.9</c:v>
                </c:pt>
                <c:pt idx="2">
                  <c:v>6</c:v>
                </c:pt>
                <c:pt idx="3">
                  <c:v>8.3</c:v>
                </c:pt>
                <c:pt idx="4">
                  <c:v>11.5</c:v>
                </c:pt>
                <c:pt idx="5">
                  <c:v>19</c:v>
                </c:pt>
                <c:pt idx="6">
                  <c:v>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Respondents</c:v>
                </c:pt>
              </c:strCache>
            </c:strRef>
          </c:tx>
          <c:spPr>
            <a:solidFill>
              <a:srgbClr val="1A6B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Unaware</c:v>
                  </c:pt>
                  <c:pt idx="1">
                    <c:v>Aware but not used</c:v>
                  </c:pt>
                  <c:pt idx="2">
                    <c:v>Trialed free tools</c:v>
                  </c:pt>
                  <c:pt idx="3">
                    <c:v>Currently using</c:v>
                  </c:pt>
                  <c:pt idx="4">
                    <c:v>Paid AI subscriber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33</c:v>
                </c:pt>
                <c:pt idx="2">
                  <c:v>26</c:v>
                </c:pt>
                <c:pt idx="3">
                  <c:v>21</c:v>
                </c:pt>
                <c:pt idx="4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(₹Cr)</c:v>
                </c:pt>
              </c:strCache>
            </c:strRef>
          </c:tx>
          <c:spPr>
            <a:solidFill>
              <a:srgbClr val="1A6B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Q1 Y1</c:v>
                  </c:pt>
                  <c:pt idx="1">
                    <c:v>Q2 Y1</c:v>
                  </c:pt>
                  <c:pt idx="2">
                    <c:v>Q3 Y1</c:v>
                  </c:pt>
                  <c:pt idx="3">
                    <c:v>Q4 Y1</c:v>
                  </c:pt>
                  <c:pt idx="4">
                    <c:v>Q2 Y2</c:v>
                  </c:pt>
                  <c:pt idx="5">
                    <c:v>Q4 Y2</c:v>
                  </c:pt>
                  <c:pt idx="6">
                    <c:v>Q2 Y3</c:v>
                  </c:pt>
                  <c:pt idx="7">
                    <c:v>Q4 Y3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</c:v>
                </c:pt>
                <c:pt idx="1">
                  <c:v>5</c:v>
                </c:pt>
                <c:pt idx="2">
                  <c:v>11</c:v>
                </c:pt>
                <c:pt idx="3">
                  <c:v>20</c:v>
                </c:pt>
                <c:pt idx="4">
                  <c:v>38</c:v>
                </c:pt>
                <c:pt idx="5">
                  <c:v>72</c:v>
                </c:pt>
                <c:pt idx="6">
                  <c:v>120</c:v>
                </c:pt>
                <c:pt idx="7">
                  <c:v>193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A6B8A">
              <a:alpha val="30000"/>
            </a:srgbClr>
          </a:solidFill>
          <a:ln w="12700">
            <a:solidFill>
              <a:srgbClr val="1A6B8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457200"/>
            <a:ext cx="2011680" cy="2011680"/>
          </a:xfrm>
          <a:prstGeom prst="ellipse">
            <a:avLst/>
          </a:prstGeom>
          <a:solidFill>
            <a:srgbClr val="00C4A7">
              <a:alpha val="40000"/>
            </a:srgbClr>
          </a:solidFill>
          <a:ln w="12700">
            <a:solidFill>
              <a:srgbClr val="00C4A7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STRATEGY PROJECT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Entry Strategy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11480" y="21945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SaaS for Indian SMEs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11480" y="2926080"/>
            <a:ext cx="4572000" cy="36576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1546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Market Intelligence Team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520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 |  Confidential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4206240"/>
            <a:ext cx="1737360" cy="777240"/>
          </a:xfrm>
          <a:prstGeom prst="rect">
            <a:avLst/>
          </a:prstGeom>
          <a:solidFill>
            <a:srgbClr val="1A6B8A">
              <a:alpha val="40000"/>
            </a:srgbClr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422452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$4.5B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11480" y="45902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by 2028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23160" y="4206240"/>
            <a:ext cx="1737360" cy="777240"/>
          </a:xfrm>
          <a:prstGeom prst="rect">
            <a:avLst/>
          </a:prstGeom>
          <a:solidFill>
            <a:srgbClr val="1A6B8A">
              <a:alpha val="40000"/>
            </a:srgbClr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23160" y="422452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63M+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423160" y="45902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SMEs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34840" y="4206240"/>
            <a:ext cx="1737360" cy="777240"/>
          </a:xfrm>
          <a:prstGeom prst="rect">
            <a:avLst/>
          </a:prstGeom>
          <a:solidFill>
            <a:srgbClr val="1A6B8A">
              <a:alpha val="40000"/>
            </a:srgbClr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422452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434840" y="45902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50292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129844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Overview &amp; Opportunity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71907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/ SAM / SOM sizing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423160"/>
            <a:ext cx="50292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2316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253288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95351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players benchmarked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657600"/>
            <a:ext cx="50292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65760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376732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Porter's Five Forces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418795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attractiveness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118872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188720"/>
            <a:ext cx="50292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18872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40680" y="129844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171907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survey &amp; use cases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42316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423160"/>
            <a:ext cx="50292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42316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40680" y="253288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40680" y="295351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CAC projections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65760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657600"/>
            <a:ext cx="50292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65760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440680" y="376732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Strategy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40680" y="418795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plan &amp; pricing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"63 million SMEs in India are underserved by AI — affordable, relevant solutions barely exist."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2606040"/>
            <a:ext cx="4114800" cy="96012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6791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Cost Barrier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02666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tools (Salesforce Einstein, Microsoft Copilot) price out SMEs at ₹5,000–₹50,000/mo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2606040"/>
            <a:ext cx="4114800" cy="96012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26791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Language Gap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302666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 of AI tools are English-only; 40% of Indian SMEs operate in regional languages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703320"/>
            <a:ext cx="4114800" cy="96012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7764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Tech Complexity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412394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owners lack dedicated IT staff to deploy or manage sophisticated AI tools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3703320"/>
            <a:ext cx="4114800" cy="96012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37764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ROI Uncertainty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412394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India-specific case studies or benchmarks for AI adoption in SME contexts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36576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AI market is on a steep growth trajectory driven by SME digitization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92024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4300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$6.0B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180136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AI Market 2024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23160" y="1097280"/>
            <a:ext cx="1920240" cy="118872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23160" y="114300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$29B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23160" y="180136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by 2030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1920240" cy="1188720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14300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72000" y="180136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(2024–2030)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20840" y="1097280"/>
            <a:ext cx="1920240" cy="1188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20840" y="114300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63M+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720840" y="180136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SMEs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" y="2468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AI Market Size (USD Billion)</a:t>
            </a:r>
            <a:endParaRPr lang="en-US" sz="12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274320" y="2788920"/>
          <a:ext cx="530352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5852160" y="1097280"/>
            <a:ext cx="3017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852160" y="1097280"/>
            <a:ext cx="54864" cy="822960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89320" y="11612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India Initiative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989320" y="14447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Govt. spending ₹1.2T on SME digitization (2025–2027)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852160" y="2057400"/>
            <a:ext cx="3017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852160" y="2057400"/>
            <a:ext cx="54864" cy="822960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89320" y="21214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+ ONDC Platform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5989320" y="24048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200M+ SMEs gaining digital payments &amp; commerce access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852160" y="3017520"/>
            <a:ext cx="3017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852160" y="3017520"/>
            <a:ext cx="54864" cy="822960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89320" y="3081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Stack APIs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989320" y="33649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Aadhaar, DigiLocker, e-SIGN enabling AI-driven onboarding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852160" y="3977640"/>
            <a:ext cx="3017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852160" y="3977640"/>
            <a:ext cx="54864" cy="822960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89320" y="40416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 + Airtel 5G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5989320" y="432511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coverage in 500+ cities enabling cloud-first AI tools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SIZING: TAM / SAM / SOM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657600" cy="3749040"/>
          </a:xfrm>
          <a:prstGeom prst="ellipse">
            <a:avLst/>
          </a:prstGeom>
          <a:solidFill>
            <a:srgbClr val="1A6B8A">
              <a:alpha val="30000"/>
            </a:srgbClr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08760"/>
            <a:ext cx="2560320" cy="2743200"/>
          </a:xfrm>
          <a:prstGeom prst="ellipse">
            <a:avLst/>
          </a:prstGeom>
          <a:solidFill>
            <a:srgbClr val="1A6B8A">
              <a:alpha val="50000"/>
            </a:srgbClr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2011680"/>
            <a:ext cx="1645920" cy="1737360"/>
          </a:xfrm>
          <a:prstGeom prst="ellipse">
            <a:avLst/>
          </a:prstGeom>
          <a:solidFill>
            <a:srgbClr val="00C4A7">
              <a:alpha val="70000"/>
            </a:srgbClr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2011680"/>
            <a:ext cx="1645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1051560"/>
            <a:ext cx="4480560" cy="118872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051560"/>
            <a:ext cx="64008" cy="118872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12471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— Total Addressable Market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0" y="138074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$18.5B  (by 2028)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163677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63M SMEs × avg $294/yr addressable AI spend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0" y="2377440"/>
            <a:ext cx="4480560" cy="118872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0" y="2377440"/>
            <a:ext cx="64008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245059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— Serviceable Addressable Market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0" y="270662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$4.5B  (by 2028)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0" y="296265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~15.3M SMEs × $294/yr (24% adoption potential)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0" y="3703320"/>
            <a:ext cx="4480560" cy="118872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0" y="3703320"/>
            <a:ext cx="64008" cy="1188720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377647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— Serviceable Obtainable Market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0" y="403250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$135M  (by Year 3)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0" y="428853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45,000 paying SMEs × ₹25,000/yr avg ARR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MSME Ministry 2024, NASSCOM AI Report 2025, IDC India, McKinsey SME AI Adoption Study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competitors analyzed across 4 segments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663440" y="100584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301752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301752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05840"/>
            <a:ext cx="411480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005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Global Enterprise AI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14173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Copilot, Salesforce Einstein, Google Workspace AI, AWS Bedrock, SAP AI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" y="20116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₹5K–50K/mo | Not SME-friendly | English-only | No Indian localization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4114800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005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Indian SME SaaS Startups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73168" y="14173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Vyapar, Zoho AI, OkCredit, Khatabook, BharatPe Analytics, Dukaan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73168" y="20116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₹299–2,499/mo | Limited AI depth | Vertical-specific | Strong distribution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017520"/>
            <a:ext cx="41148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30175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🌏 Global SME-Focused AI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" y="342900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Jasper.ai, Copy.ai, HubSpot AI, Freshworks Neo, Canva AI, Notion AI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9768" y="40233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₹800–3,500/mo | Horizontal tools | Moderate India presence | UX-friendly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3017520"/>
            <a:ext cx="4114800" cy="347472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30175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Indian GenAI Pure-Plays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73168" y="342900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AI, Krutrim, Yellow.ai, Haptik, Vernacular.ai, Leher AI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73168" y="40233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stage | Multilingual focus | B2B2C model | Backed by Tier-1 VCs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BENCHMARKING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384048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188720"/>
                <a:gridCol w="1463040"/>
                <a:gridCol w="1280160"/>
                <a:gridCol w="12801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Price/mo (INR)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SME Focus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 Languages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Depth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Mode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Copilot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₹3,199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Zoho AI Suite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Hindi + 3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Freshworks Neo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₹1,899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Sarvam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languages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Jasper.ai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₹2,999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Vyapar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Hindi + 5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Target Positioning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4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₹499–₹1,499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4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4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22+ languages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4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4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4A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PORTER'S FIVE FORCES ANALYSIS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46120" y="1920240"/>
            <a:ext cx="2651760" cy="1325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46120" y="1920240"/>
            <a:ext cx="2651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ATTRACTIVENESS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46120" y="28346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OVERALL: HIGH ✅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96012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46120" y="960120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051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Rivalry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74920" y="1014984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37560" y="1325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Fragmented: No single dominant SME-AI player in India. Growing fast, not winner-take-all yet.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342900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3429000"/>
            <a:ext cx="26517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3520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of New Entrants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4920" y="3483864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37560" y="3794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capital barriers + open-source LLMs (Llama 3, Mistral) enable fast entry by well-funded startups.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2880" y="192024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2880" y="1920240"/>
            <a:ext cx="265176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0116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Power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11680" y="1975104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LOW–MED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22860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lack switching sophistication. High switching costs once data &amp; workflows are embedded. Price sensitive but sticky.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09360" y="192024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09360" y="1920240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20116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Power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138160" y="1975104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0" y="22860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on OpenAI / Anthropic APIs. Mitigation via open-source models &amp; multi-LLM strategy. GPU costs falling.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82880" y="342900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82880" y="3429000"/>
            <a:ext cx="265176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520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of Substitutes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011680" y="3483864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74320" y="3794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spreadsheets &amp; manual processes are poor substitutes. No-code/low-code not fully addressing SME AI needs.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1737360"/>
            <a:ext cx="0" cy="18288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0" y="3246120"/>
            <a:ext cx="0" cy="18288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34640" y="2583180"/>
            <a:ext cx="411480" cy="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97880" y="2583180"/>
            <a:ext cx="411480" cy="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INSIGHTS — SME SURVEY (n=42)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Online + in-person survey across Tier 1 &amp; 2 cities  |  Sectors: Retail (38%), Manufacturing (24%), Services (22%), F&amp;B (16%)  |  Mar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645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Awareness Level (% respondents)</a:t>
            </a:r>
            <a:endParaRPr lang="en-US" sz="11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1920240"/>
          <a:ext cx="41148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4663440" y="16459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Survey Findings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63440" y="1920240"/>
            <a:ext cx="4206240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54880" y="19659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78%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760720" y="1993392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AI tools in their native language (Hindi, Tamil, Telugu, Kannada)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63440" y="2697480"/>
            <a:ext cx="4206240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54880" y="27432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64%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760720" y="2770632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 to pay ₹499–₹1,499/mo if clear ROI is demonstrated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663440" y="3474720"/>
            <a:ext cx="4206240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0" y="35204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91%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760720" y="3547872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primarily access business tools on mobile (not desktop/laptop)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663440" y="4251960"/>
            <a:ext cx="4206240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54880" y="42976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55%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760720" y="4325112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switch from current tool if WhatsApp-native integration existed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274320" y="4572000"/>
            <a:ext cx="85953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45720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Biggest Barrier to Adoption:  "We don't know how to evaluate if AI is actually helping our business" — cited by 67% of SME owners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AI USE CASES FOR INDIAN SMEs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60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251960" y="960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Demand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63640" y="96012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Effort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06640" y="960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Rev. Potential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371600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371600"/>
            <a:ext cx="384048" cy="56692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371600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" y="1444752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WhatsApp Chatbot for Customer Support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51960" y="1572768"/>
            <a:ext cx="18288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51960" y="1572768"/>
            <a:ext cx="1536192" cy="164592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1960" y="1737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63640" y="1499616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06640" y="149961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1975104"/>
            <a:ext cx="859536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1975104"/>
            <a:ext cx="384048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1975104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" y="2048256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Automated Invoice &amp; GST Filing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51960" y="2176272"/>
            <a:ext cx="18288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51960" y="2176272"/>
            <a:ext cx="1444752" cy="1645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51960" y="234086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63640" y="2103120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06640" y="210312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2578608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2578608"/>
            <a:ext cx="384048" cy="566928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578608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9808" y="2651760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Vernacular Content &amp; Ad Creation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251960" y="2779776"/>
            <a:ext cx="18288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51960" y="2779776"/>
            <a:ext cx="1298448" cy="164592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51960" y="29443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63640" y="2706624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406640" y="270662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74320" y="3182112"/>
            <a:ext cx="859536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3182112"/>
            <a:ext cx="384048" cy="56692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3182112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49808" y="3255264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Inventory Demand Forecasting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251960" y="3383280"/>
            <a:ext cx="18288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51960" y="3383280"/>
            <a:ext cx="1225296" cy="164592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51960" y="35478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63640" y="3310128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406640" y="331012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74320" y="3785616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4320" y="3785616"/>
            <a:ext cx="384048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3785616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49808" y="3858768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AI-Powered HR Hiring &amp; Onboarding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251960" y="3986784"/>
            <a:ext cx="18288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251960" y="3986784"/>
            <a:ext cx="987552" cy="1645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51960" y="415137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63640" y="3913632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7406640" y="391363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274320" y="4389120"/>
            <a:ext cx="859536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74320" y="4389120"/>
            <a:ext cx="384048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4389120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49808" y="4462272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Credit Score &amp; Loan Eligibility AI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251960" y="4590288"/>
            <a:ext cx="18288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251960" y="4590288"/>
            <a:ext cx="877824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251960" y="47548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263640" y="4517136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7406640" y="451713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V.High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 — REVENUE PROJECTIONS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2024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2412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₹27Cr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49961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— Year 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1005840"/>
            <a:ext cx="192024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02412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₹89Cr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423160" y="149961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— Year 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192024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02412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₹253Cr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0" y="149961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— Year 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20840" y="1005840"/>
            <a:ext cx="192024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102412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18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720840" y="149961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19933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Recurring Revenue (₹ Crore)</a:t>
            </a:r>
            <a:endParaRPr lang="en-US" sz="11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274320" y="2286000"/>
          <a:ext cx="502920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5577840" y="19933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Assumptions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2286000"/>
          <a:ext cx="3383280" cy="2606040"/>
        </p:xfrm>
        <a:graphic>
          <a:graphicData uri="http://schemas.openxmlformats.org/drawingml/2006/table">
            <a:tbl>
              <a:tblPr/>
              <a:tblGrid>
                <a:gridCol w="1645920"/>
                <a:gridCol w="576072"/>
                <a:gridCol w="576072"/>
                <a:gridCol w="576072"/>
              </a:tblGrid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Paying SMEs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5,940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16,875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ARPU/mo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₹1,249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₹1,399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₹1,499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Churn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Rev Retention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&amp; CUSTOMER ACQUISITION COST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0" y="1051560"/>
            <a:ext cx="5486400" cy="5486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10515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Reach — 500,000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77440" y="1737360"/>
            <a:ext cx="4389120" cy="54864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17373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Trial Signups — 25,000 (5%)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2423160"/>
            <a:ext cx="329184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24231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Activated Users — 8,750 (35%)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3108960"/>
            <a:ext cx="2194560" cy="548640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31089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Conversions — 1,750 (20%)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776472"/>
            <a:ext cx="2697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383133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CAC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40507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₹3,750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11480" y="436168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paid customer (Yr1)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54680" y="3776472"/>
            <a:ext cx="2697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46120" y="383133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(24-mo)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46120" y="40507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₹28,760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3246120" y="436168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2.5% churn, 1,499 ARPU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89320" y="3776472"/>
            <a:ext cx="2697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80760" y="383133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: CAC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080760" y="40507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7.7x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080760" y="436168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&gt;3x — Healthy ✅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4672584"/>
            <a:ext cx="2697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11480" y="47274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11480" y="494690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months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411480" y="52578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avg Yr1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154680" y="4672584"/>
            <a:ext cx="2697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246120" y="47274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246120" y="494690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62–76%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3246120" y="52578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with scale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989320" y="4672584"/>
            <a:ext cx="2697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080760" y="47274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 (Yr3)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080760" y="494690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115%</a:t>
            </a:r>
            <a:endParaRPr lang="en-US" sz="1900" dirty="0"/>
          </a:p>
        </p:txBody>
      </p:sp>
      <p:sp>
        <p:nvSpPr>
          <p:cNvPr id="35" name="Text 33"/>
          <p:cNvSpPr/>
          <p:nvPr/>
        </p:nvSpPr>
        <p:spPr>
          <a:xfrm>
            <a:off x="6080760" y="52578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&gt; churn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ENTRY STRATEGY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50292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|  Months 1–6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261872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 Entry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2743200" cy="324612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673352"/>
            <a:ext cx="201168" cy="201168"/>
          </a:xfrm>
          <a:prstGeom prst="ellipse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1600200"/>
            <a:ext cx="2240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in 3 cities: Mumbai, Bengaluru, Jaipur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2386584"/>
            <a:ext cx="201168" cy="201168"/>
          </a:xfrm>
          <a:prstGeom prst="ellipse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2313432"/>
            <a:ext cx="2240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Retail &amp; Services SMEs only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3099816"/>
            <a:ext cx="201168" cy="201168"/>
          </a:xfrm>
          <a:prstGeom prst="ellipse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3026664"/>
            <a:ext cx="2240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WhatsApp-first onboarding (zero friction)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" y="3813048"/>
            <a:ext cx="201168" cy="201168"/>
          </a:xfrm>
          <a:prstGeom prst="ellipse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3739896"/>
            <a:ext cx="2240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tier to build trust &amp; data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1005840"/>
            <a:ext cx="27432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1005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|  Months 7–18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0" y="1261872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&amp; Deepen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0" y="1508760"/>
            <a:ext cx="2743200" cy="324612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10128" y="1673352"/>
            <a:ext cx="201168" cy="20116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02736" y="1600200"/>
            <a:ext cx="2240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15 Tier-1 + Tier-2 cities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10128" y="2386584"/>
            <a:ext cx="201168" cy="20116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02736" y="2313432"/>
            <a:ext cx="2240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Manufacturing &amp; F&amp;B verticals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10128" y="3099816"/>
            <a:ext cx="201168" cy="20116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02736" y="3026664"/>
            <a:ext cx="2240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Hindi + Tamil + Telugu UX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10128" y="3813048"/>
            <a:ext cx="201168" cy="20116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02736" y="3739896"/>
            <a:ext cx="2240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SME referral flywheel (₹500 credit)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1005840"/>
            <a:ext cx="2743200" cy="502920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1005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|  Months 19–36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26480" y="1261872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Platform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26480" y="1508760"/>
            <a:ext cx="2743200" cy="324612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36208" y="1673352"/>
            <a:ext cx="201168" cy="201168"/>
          </a:xfrm>
          <a:prstGeom prst="ellipse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28816" y="1600200"/>
            <a:ext cx="2240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Pan-India coverage (100+ cities)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36208" y="2386584"/>
            <a:ext cx="201168" cy="201168"/>
          </a:xfrm>
          <a:prstGeom prst="ellipse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28816" y="2313432"/>
            <a:ext cx="2240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of 3rd-party AI agents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36208" y="3099816"/>
            <a:ext cx="201168" cy="201168"/>
          </a:xfrm>
          <a:prstGeom prst="ellipse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28816" y="3026664"/>
            <a:ext cx="2240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lending + insurance upsell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36208" y="3813048"/>
            <a:ext cx="201168" cy="201168"/>
          </a:xfrm>
          <a:prstGeom prst="ellipse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28816" y="3739896"/>
            <a:ext cx="2240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API-first B2B2C via banks &amp; telcos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017520" y="1252728"/>
            <a:ext cx="1828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5943600" y="1252728"/>
            <a:ext cx="1828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274320" y="4828032"/>
            <a:ext cx="8595360" cy="228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Strategic Moat: Vernacular AI + WhatsApp native + SME data flywheel = sustainable competitive advantage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MODEL &amp; GO-TO-MARKET PLAN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65176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972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11480" y="14813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 AI assistant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5420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WhatsApp bot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88950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500 messages/mo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23697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Hindi only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228600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566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Hook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54680" y="1005840"/>
            <a:ext cx="2651760" cy="3063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C4A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1005840"/>
            <a:ext cx="2651760" cy="347472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10058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91840" y="14173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291840" y="18013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₹499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291840" y="22402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2514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 AI assistants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37560" y="28620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GST filing AI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37560" y="320954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5,000 msg/mo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60" y="355701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 languages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37560" y="3685032"/>
            <a:ext cx="2286000" cy="320040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36850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Sweet Spot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1005840"/>
            <a:ext cx="265176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72200" y="10972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172200" y="14813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₹1,499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172200" y="19202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0" y="2194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AI agents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25420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Inventory forecasting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0" y="288950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usage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17920" y="323697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22 languages + API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3566160"/>
            <a:ext cx="228600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3566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Users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74320" y="41879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Channels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74320" y="4507992"/>
            <a:ext cx="2057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5354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 WhatsApp First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" y="47731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Zero-install onboarding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468880" y="4507992"/>
            <a:ext cx="2057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60320" y="45354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NBFC / Bank APIs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560320" y="47731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finance GTM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63440" y="4507992"/>
            <a:ext cx="2057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45354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ONDC / Dukaan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754880" y="47731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platform hook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858000" y="4507992"/>
            <a:ext cx="2057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49440" y="45354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CA / Tax Partner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949440" y="47731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referral network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4114800" cy="4114800"/>
          </a:xfrm>
          <a:prstGeom prst="ellipse">
            <a:avLst/>
          </a:prstGeom>
          <a:solidFill>
            <a:srgbClr val="1A6B8A">
              <a:alpha val="20000"/>
            </a:srgbClr>
          </a:solidFill>
          <a:ln w="12700">
            <a:solidFill>
              <a:srgbClr val="1A6B8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00C4A7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Now. Localize Deeply.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the Indian SME AI Market.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4023360" cy="1097280"/>
          </a:xfrm>
          <a:prstGeom prst="rect">
            <a:avLst/>
          </a:prstGeom>
          <a:solidFill>
            <a:srgbClr val="1A6B8A">
              <a:alpha val="30000"/>
            </a:srgbClr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4231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 Enter via WhatsApp-Native AI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734056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India's 530M WhatsApp users. Build onboarding, product delivery &amp; support natively in-app — zero install friction for SME owners.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17720" y="2331720"/>
            <a:ext cx="4023360" cy="1097280"/>
          </a:xfrm>
          <a:prstGeom prst="rect">
            <a:avLst/>
          </a:prstGeom>
          <a:solidFill>
            <a:srgbClr val="1A6B8A">
              <a:alpha val="30000"/>
            </a:srgbClr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24231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Vernacular-First Product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2734056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official languages = 22 market segments. Sarvam/Krutrim as infra, in-house fine-tuning for SME domain. No competitor has cracked this.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566160"/>
            <a:ext cx="4023360" cy="1097280"/>
          </a:xfrm>
          <a:prstGeom prst="rect">
            <a:avLst/>
          </a:prstGeom>
          <a:solidFill>
            <a:srgbClr val="1A6B8A">
              <a:alpha val="30000"/>
            </a:srgbClr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6576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Freemium → ₹499 Conversion Engine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968496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creates trust &amp; data. WhatsApp nudges convert 20%+ to paid at ₹499. Upsell to ₹1,499 via demonstrated ROI dashboards.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17720" y="3566160"/>
            <a:ext cx="4023360" cy="1097280"/>
          </a:xfrm>
          <a:prstGeom prst="rect">
            <a:avLst/>
          </a:prstGeom>
          <a:solidFill>
            <a:srgbClr val="1A6B8A">
              <a:alpha val="30000"/>
            </a:srgbClr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36576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Year 3 Target: ₹253Cr ARR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3968496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45,000 paying SMEs at ₹1,499/mo ARPU. LTV:CAC of 7.7x. NRR of 115%. This is a fundable, scalable, and durable business.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was prepared by the Strategy &amp; Market Intelligence Team  ·  March 2026  ·  Confidential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 Entry Strategy – GenAI in Indian SMEs</dc:title>
  <dc:subject>PptxGenJS Presentation</dc:subject>
  <dc:creator>PptxGenJS</dc:creator>
  <cp:lastModifiedBy>PptxGenJS</cp:lastModifiedBy>
  <cp:revision>1</cp:revision>
  <dcterms:created xsi:type="dcterms:W3CDTF">2026-03-04T08:04:49Z</dcterms:created>
  <dcterms:modified xsi:type="dcterms:W3CDTF">2026-03-04T08:04:49Z</dcterms:modified>
</cp:coreProperties>
</file>